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Lobster"/>
      <p:regular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Lobster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75114a84f605da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75114a84f605da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75114a84f605da5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75114a84f605da5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75114a84f605da5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75114a84f605da5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75114a84f605da5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75114a84f605da5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75114a84f605da5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75114a84f605da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75114a84f605da5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75114a84f605da5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75114a84f605da5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h75114a84f605da5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75114a84f605da5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75114a84f605da5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75114a84f605da5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h75114a84f605da5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75114a84f605da5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h75114a84f605da5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75114a84f605da5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75114a84f605da5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75114a84f605da5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h75114a84f605da5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75114a84f605da5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h75114a84f605da5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75114a84f605da5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h75114a84f605da5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75114a84f605da5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h75114a84f605da5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75114a84f605da55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h75114a84f605da5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75114a84f605da55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h75114a84f605da55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75114a84f605da55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h75114a84f605da55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75114a84f605da5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h75114a84f605da5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75114a84f605da55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h75114a84f605da5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75114a84f605da5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h75114a84f605da5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75114a84f605da55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h75114a84f605da5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75114a84f605da5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h75114a84f605da5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75114a84f605da55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h75114a84f605da55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h75114a84f605da55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h75114a84f605da5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h75114a84f605da55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h75114a84f605da55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h75114a84f605da55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h75114a84f605da55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75114a84f605da55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h75114a84f605da55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75114a84f605da55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h75114a84f605da55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h75114a84f605da55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h75114a84f605da55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75114a84f605da55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h75114a84f605da55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75114a84f605da55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h75114a84f605da55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h75114a84f605da55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h75114a84f605da55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h75114a84f605da55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h75114a84f605da55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h75114a84f605da55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h75114a84f605da55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h75114a84f605da55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h75114a84f605da55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75114a84f605da55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h75114a84f605da55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-Creds-Brand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logo.png"/>
          <p:cNvPicPr preferRelativeResize="0"/>
          <p:nvPr/>
        </p:nvPicPr>
        <p:blipFill rotWithShape="1">
          <a:blip r:embed="rId2">
            <a:alphaModFix/>
          </a:blip>
          <a:srcRect b="70" l="0" r="0" t="80"/>
          <a:stretch/>
        </p:blipFill>
        <p:spPr>
          <a:xfrm>
            <a:off x="8800640" y="7292"/>
            <a:ext cx="319800" cy="31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-Creds-Image-Large">
  <p:cSld name="TITLE_2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>
            <p:ph idx="2" type="pic"/>
          </p:nvPr>
        </p:nvSpPr>
        <p:spPr>
          <a:xfrm>
            <a:off x="0" y="1190700"/>
            <a:ext cx="9144000" cy="395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Google Shape;13;p3"/>
          <p:cNvSpPr txBox="1"/>
          <p:nvPr/>
        </p:nvSpPr>
        <p:spPr>
          <a:xfrm>
            <a:off x="915169" y="719989"/>
            <a:ext cx="1155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/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915175" y="720000"/>
            <a:ext cx="31215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i="0"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" name="Google Shape;15;p3" title="logo.png"/>
          <p:cNvPicPr preferRelativeResize="0"/>
          <p:nvPr/>
        </p:nvPicPr>
        <p:blipFill rotWithShape="1">
          <a:blip r:embed="rId2">
            <a:alphaModFix/>
          </a:blip>
          <a:srcRect b="70" l="0" r="0" t="80"/>
          <a:stretch/>
        </p:blipFill>
        <p:spPr>
          <a:xfrm>
            <a:off x="8800640" y="7292"/>
            <a:ext cx="319800" cy="31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-Creds-Image-1Col">
  <p:cSld name="TITLE_2_2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740025" y="720000"/>
            <a:ext cx="60780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915175" y="1291550"/>
            <a:ext cx="1855800" cy="3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/>
        </p:nvSpPr>
        <p:spPr>
          <a:xfrm>
            <a:off x="915169" y="719989"/>
            <a:ext cx="1155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915175" y="720000"/>
            <a:ext cx="31215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i="0"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" name="Google Shape;21;p4" title="logo.png"/>
          <p:cNvPicPr preferRelativeResize="0"/>
          <p:nvPr/>
        </p:nvPicPr>
        <p:blipFill rotWithShape="1">
          <a:blip r:embed="rId2">
            <a:alphaModFix/>
          </a:blip>
          <a:srcRect b="70" l="0" r="0" t="80"/>
          <a:stretch/>
        </p:blipFill>
        <p:spPr>
          <a:xfrm>
            <a:off x="8800640" y="7292"/>
            <a:ext cx="319800" cy="31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554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-Creds-Image-4up">
  <p:cSld name="TITLE_2_2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>
            <p:ph idx="2" type="pic"/>
          </p:nvPr>
        </p:nvSpPr>
        <p:spPr>
          <a:xfrm>
            <a:off x="3281100" y="720000"/>
            <a:ext cx="2694000" cy="19782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5"/>
          <p:cNvSpPr/>
          <p:nvPr>
            <p:ph idx="3" type="pic"/>
          </p:nvPr>
        </p:nvSpPr>
        <p:spPr>
          <a:xfrm>
            <a:off x="6125275" y="2835950"/>
            <a:ext cx="2694000" cy="19782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5"/>
          <p:cNvSpPr/>
          <p:nvPr>
            <p:ph idx="4" type="pic"/>
          </p:nvPr>
        </p:nvSpPr>
        <p:spPr>
          <a:xfrm>
            <a:off x="6125275" y="720000"/>
            <a:ext cx="2694000" cy="19782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5"/>
          <p:cNvSpPr/>
          <p:nvPr>
            <p:ph idx="5" type="pic"/>
          </p:nvPr>
        </p:nvSpPr>
        <p:spPr>
          <a:xfrm>
            <a:off x="3281100" y="2835950"/>
            <a:ext cx="2694000" cy="19782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915175" y="1291550"/>
            <a:ext cx="1855800" cy="3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/>
        </p:nvSpPr>
        <p:spPr>
          <a:xfrm>
            <a:off x="915169" y="719989"/>
            <a:ext cx="1155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/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915175" y="720000"/>
            <a:ext cx="31215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i="0"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5" title="logo.png"/>
          <p:cNvPicPr preferRelativeResize="0"/>
          <p:nvPr/>
        </p:nvPicPr>
        <p:blipFill rotWithShape="1">
          <a:blip r:embed="rId2">
            <a:alphaModFix/>
          </a:blip>
          <a:srcRect b="70" l="0" r="0" t="80"/>
          <a:stretch/>
        </p:blipFill>
        <p:spPr>
          <a:xfrm>
            <a:off x="8800640" y="7292"/>
            <a:ext cx="319800" cy="31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-Creds-Title-Subtitle">
  <p:cSld name="TITLE_2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/>
        </p:nvSpPr>
        <p:spPr>
          <a:xfrm>
            <a:off x="915169" y="719989"/>
            <a:ext cx="1155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/>
          </a:p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915175" y="720000"/>
            <a:ext cx="31215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i="0"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title"/>
          </p:nvPr>
        </p:nvSpPr>
        <p:spPr>
          <a:xfrm>
            <a:off x="915175" y="1235928"/>
            <a:ext cx="3121500" cy="16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i="0"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" name="Google Shape;35;p6" title="logo.png"/>
          <p:cNvPicPr preferRelativeResize="0"/>
          <p:nvPr/>
        </p:nvPicPr>
        <p:blipFill rotWithShape="1">
          <a:blip r:embed="rId2">
            <a:alphaModFix/>
          </a:blip>
          <a:srcRect b="70" l="0" r="0" t="80"/>
          <a:stretch/>
        </p:blipFill>
        <p:spPr>
          <a:xfrm>
            <a:off x="8800640" y="7292"/>
            <a:ext cx="319800" cy="31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-Creds-Title-LargeBlurb">
  <p:cSld name="TITLE_2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>
            <a:off x="915169" y="719989"/>
            <a:ext cx="1155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915175" y="720000"/>
            <a:ext cx="22350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i="0"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b="0" l="3488" r="3497" t="0"/>
          <a:stretch/>
        </p:blipFill>
        <p:spPr>
          <a:xfrm>
            <a:off x="4374716" y="4719300"/>
            <a:ext cx="394568" cy="4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657225" y="720000"/>
            <a:ext cx="4594500" cy="16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 sz="2200">
                <a:solidFill>
                  <a:schemeClr val="lt1"/>
                </a:solidFill>
              </a:defRPr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 sz="2200">
                <a:solidFill>
                  <a:schemeClr val="lt1"/>
                </a:solidFill>
              </a:defRPr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 sz="2200">
                <a:solidFill>
                  <a:schemeClr val="lt1"/>
                </a:solidFill>
              </a:defRPr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 sz="2200">
                <a:solidFill>
                  <a:schemeClr val="lt1"/>
                </a:solidFill>
              </a:defRPr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 sz="2200">
                <a:solidFill>
                  <a:schemeClr val="lt1"/>
                </a:solidFill>
              </a:defRPr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 sz="2200">
                <a:solidFill>
                  <a:schemeClr val="lt1"/>
                </a:solidFill>
              </a:defRPr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 sz="2200">
                <a:solidFill>
                  <a:schemeClr val="lt1"/>
                </a:solidFill>
              </a:defRPr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 sz="2200">
                <a:solidFill>
                  <a:schemeClr val="lt1"/>
                </a:solidFill>
              </a:defRPr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 sz="2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-Creds-Title-Blurb">
  <p:cSld name="TITLE_2_1_1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/>
        </p:nvSpPr>
        <p:spPr>
          <a:xfrm>
            <a:off x="915169" y="719989"/>
            <a:ext cx="1155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/>
          </a:p>
        </p:txBody>
      </p:sp>
      <p:sp>
        <p:nvSpPr>
          <p:cNvPr id="43" name="Google Shape;43;p8"/>
          <p:cNvSpPr txBox="1"/>
          <p:nvPr>
            <p:ph type="title"/>
          </p:nvPr>
        </p:nvSpPr>
        <p:spPr>
          <a:xfrm>
            <a:off x="915175" y="720000"/>
            <a:ext cx="22350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i="0"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3657225" y="720000"/>
            <a:ext cx="4360500" cy="22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5" name="Google Shape;45;p8"/>
          <p:cNvPicPr preferRelativeResize="0"/>
          <p:nvPr/>
        </p:nvPicPr>
        <p:blipFill rotWithShape="1">
          <a:blip r:embed="rId2">
            <a:alphaModFix/>
          </a:blip>
          <a:srcRect b="0" l="3488" r="3497" t="0"/>
          <a:stretch/>
        </p:blipFill>
        <p:spPr>
          <a:xfrm>
            <a:off x="4374716" y="4719300"/>
            <a:ext cx="394568" cy="4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-Creds-2col">
  <p:cSld name="TITLE_2_1_1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/>
        </p:nvSpPr>
        <p:spPr>
          <a:xfrm>
            <a:off x="915169" y="719989"/>
            <a:ext cx="1155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915175" y="720000"/>
            <a:ext cx="18273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i="0"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2740025" y="720000"/>
            <a:ext cx="2581800" cy="3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5486775" y="720000"/>
            <a:ext cx="2581800" cy="3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-Creds-3col">
  <p:cSld name="TITLE_2_1_1_1_1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/>
        </p:nvSpPr>
        <p:spPr>
          <a:xfrm>
            <a:off x="915169" y="719989"/>
            <a:ext cx="1155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/>
          </a:p>
        </p:txBody>
      </p:sp>
      <p:sp>
        <p:nvSpPr>
          <p:cNvPr id="53" name="Google Shape;53;p10"/>
          <p:cNvSpPr txBox="1"/>
          <p:nvPr>
            <p:ph type="title"/>
          </p:nvPr>
        </p:nvSpPr>
        <p:spPr>
          <a:xfrm>
            <a:off x="915175" y="720000"/>
            <a:ext cx="18273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i="0" sz="11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915175" y="1291550"/>
            <a:ext cx="1698300" cy="3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2740025" y="720000"/>
            <a:ext cx="2581800" cy="3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3" type="body"/>
          </p:nvPr>
        </p:nvSpPr>
        <p:spPr>
          <a:xfrm>
            <a:off x="5486775" y="720000"/>
            <a:ext cx="2581800" cy="3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-Creds">
  <p:cSld name="TITLE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-Creds-Brand" showMasterSp="0" type="tx">
  <p:cSld name="TITLE_AND_BODY">
    <p:bg>
      <p:bgPr>
        <a:solidFill>
          <a:srgbClr val="DCDEE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/>
        </p:nvSpPr>
        <p:spPr>
          <a:xfrm>
            <a:off x="915187" y="132945"/>
            <a:ext cx="9111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TITLE</a:t>
            </a:r>
            <a:endParaRPr sz="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61" name="Google Shape;61;p12"/>
          <p:cNvSpPr txBox="1"/>
          <p:nvPr/>
        </p:nvSpPr>
        <p:spPr>
          <a:xfrm>
            <a:off x="4571988" y="132945"/>
            <a:ext cx="7128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WAKU CATEGORY</a:t>
            </a:r>
            <a:endParaRPr sz="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62" name="Google Shape;62;p12"/>
          <p:cNvSpPr txBox="1"/>
          <p:nvPr/>
        </p:nvSpPr>
        <p:spPr>
          <a:xfrm>
            <a:off x="2740013" y="132945"/>
            <a:ext cx="6381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DATE 2022</a:t>
            </a:r>
            <a:endParaRPr sz="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_</a:t>
            </a:r>
            <a:endParaRPr sz="400">
              <a:solidFill>
                <a:schemeClr val="dk1"/>
              </a:solidFill>
            </a:endParaRPr>
          </a:p>
        </p:txBody>
      </p:sp>
      <p:pic>
        <p:nvPicPr>
          <p:cNvPr id="63" name="Google Shape;63;p12" title="logo-1.png"/>
          <p:cNvPicPr preferRelativeResize="0"/>
          <p:nvPr/>
        </p:nvPicPr>
        <p:blipFill rotWithShape="1">
          <a:blip r:embed="rId2">
            <a:alphaModFix/>
          </a:blip>
          <a:srcRect b="70" l="0" r="0" t="80"/>
          <a:stretch/>
        </p:blipFill>
        <p:spPr>
          <a:xfrm>
            <a:off x="8800640" y="7292"/>
            <a:ext cx="319800" cy="31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-Creds-2col" showMasterSp="0">
  <p:cSld name="TITLE_AND_BODY_2">
    <p:bg>
      <p:bgPr>
        <a:solidFill>
          <a:srgbClr val="DCDEE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/>
        </p:nvSpPr>
        <p:spPr>
          <a:xfrm>
            <a:off x="915169" y="719989"/>
            <a:ext cx="1155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66" name="Google Shape;66;p13"/>
          <p:cNvSpPr txBox="1"/>
          <p:nvPr>
            <p:ph type="title"/>
          </p:nvPr>
        </p:nvSpPr>
        <p:spPr>
          <a:xfrm>
            <a:off x="915175" y="720000"/>
            <a:ext cx="18249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i="0" sz="11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2740025" y="720000"/>
            <a:ext cx="2581800" cy="3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2" type="body"/>
          </p:nvPr>
        </p:nvSpPr>
        <p:spPr>
          <a:xfrm>
            <a:off x="5486775" y="720000"/>
            <a:ext cx="2581800" cy="3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" name="Google Shape;69;p13"/>
          <p:cNvSpPr txBox="1"/>
          <p:nvPr/>
        </p:nvSpPr>
        <p:spPr>
          <a:xfrm>
            <a:off x="915187" y="132945"/>
            <a:ext cx="9111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TITLE</a:t>
            </a:r>
            <a:endParaRPr sz="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2740013" y="132945"/>
            <a:ext cx="6381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DATE 2022</a:t>
            </a:r>
            <a:endParaRPr sz="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_</a:t>
            </a:r>
            <a:endParaRPr sz="400">
              <a:solidFill>
                <a:schemeClr val="dk1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4571988" y="132945"/>
            <a:ext cx="7128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WAKU CATEGORY</a:t>
            </a:r>
            <a:endParaRPr sz="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>
              <a:solidFill>
                <a:schemeClr val="dk1"/>
              </a:solidFill>
            </a:endParaRPr>
          </a:p>
        </p:txBody>
      </p:sp>
      <p:pic>
        <p:nvPicPr>
          <p:cNvPr id="72" name="Google Shape;72;p13" title="logo-1.png"/>
          <p:cNvPicPr preferRelativeResize="0"/>
          <p:nvPr/>
        </p:nvPicPr>
        <p:blipFill rotWithShape="1">
          <a:blip r:embed="rId2">
            <a:alphaModFix/>
          </a:blip>
          <a:srcRect b="70" l="0" r="0" t="80"/>
          <a:stretch/>
        </p:blipFill>
        <p:spPr>
          <a:xfrm>
            <a:off x="8800640" y="7292"/>
            <a:ext cx="319800" cy="31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-Creds" showMasterSp="0">
  <p:cSld name="TITLE_AND_BODY_1">
    <p:bg>
      <p:bgPr>
        <a:solidFill>
          <a:srgbClr val="DCDEE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/>
        </p:nvSpPr>
        <p:spPr>
          <a:xfrm>
            <a:off x="915187" y="132945"/>
            <a:ext cx="9111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TITLE</a:t>
            </a:r>
            <a:endParaRPr sz="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2740013" y="132945"/>
            <a:ext cx="6381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DATE 2022</a:t>
            </a:r>
            <a:endParaRPr sz="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_</a:t>
            </a:r>
            <a:endParaRPr sz="400">
              <a:solidFill>
                <a:schemeClr val="dk1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4571988" y="132945"/>
            <a:ext cx="7128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WAKU CATEGORY</a:t>
            </a:r>
            <a:endParaRPr sz="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-Creds-Brand" showMasterSp="0">
  <p:cSld name="White"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915187" y="132945"/>
            <a:ext cx="9111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Path compromise and defenses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2740013" y="132945"/>
            <a:ext cx="6381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Oct </a:t>
            </a:r>
            <a:r>
              <a:rPr lang="en" sz="400">
                <a:solidFill>
                  <a:schemeClr val="dk1"/>
                </a:solidFill>
              </a:rPr>
              <a:t> 2026</a:t>
            </a:r>
            <a:endParaRPr sz="400">
              <a:solidFill>
                <a:schemeClr val="dk1"/>
              </a:solidFill>
            </a:endParaRPr>
          </a:p>
        </p:txBody>
      </p:sp>
      <p:pic>
        <p:nvPicPr>
          <p:cNvPr id="80" name="Google Shape;80;p15" title="logo-1.png"/>
          <p:cNvPicPr preferRelativeResize="0"/>
          <p:nvPr/>
        </p:nvPicPr>
        <p:blipFill rotWithShape="1">
          <a:blip r:embed="rId2">
            <a:alphaModFix/>
          </a:blip>
          <a:srcRect b="70" l="0" r="0" t="80"/>
          <a:stretch/>
        </p:blipFill>
        <p:spPr>
          <a:xfrm>
            <a:off x="8800640" y="7292"/>
            <a:ext cx="319800" cy="31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-Creds" showMasterSp="0">
  <p:cSld name="White_1"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/>
        </p:nvSpPr>
        <p:spPr>
          <a:xfrm>
            <a:off x="915187" y="132945"/>
            <a:ext cx="9111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TITLE</a:t>
            </a:r>
            <a:endParaRPr sz="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740013" y="132945"/>
            <a:ext cx="6381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DATE 2022</a:t>
            </a:r>
            <a:endParaRPr sz="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_</a:t>
            </a:r>
            <a:endParaRPr sz="400">
              <a:solidFill>
                <a:schemeClr val="dk1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571988" y="132945"/>
            <a:ext cx="7128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dk1"/>
                </a:solidFill>
              </a:rPr>
              <a:t>WAKU CATEGORY</a:t>
            </a:r>
            <a:endParaRPr sz="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-Blank" showMasterSp="0">
  <p:cSld name="White copy">
    <p:bg>
      <p:bgPr>
        <a:solidFill>
          <a:srgbClr val="DCDEE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-Blank" showMasterSp="0">
  <p:cSld name="White copy 1"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-Brand-Cover" showMasterSp="0">
  <p:cSld name="White copy 1_1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 title="logo-1.png"/>
          <p:cNvPicPr preferRelativeResize="0"/>
          <p:nvPr/>
        </p:nvPicPr>
        <p:blipFill rotWithShape="1">
          <a:blip r:embed="rId2">
            <a:alphaModFix/>
          </a:blip>
          <a:srcRect b="0" l="4338" r="4338" t="0"/>
          <a:stretch/>
        </p:blipFill>
        <p:spPr>
          <a:xfrm>
            <a:off x="4279738" y="2251713"/>
            <a:ext cx="584536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-Blank" showMasterSp="0">
  <p:cSld name="Blac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Image" showMasterSp="0">
  <p:cSld name="Black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-Brand-Cover" showMasterSp="0">
  <p:cSld name="Black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2" title="logo.png"/>
          <p:cNvPicPr preferRelativeResize="0"/>
          <p:nvPr/>
        </p:nvPicPr>
        <p:blipFill rotWithShape="1">
          <a:blip r:embed="rId2">
            <a:alphaModFix/>
          </a:blip>
          <a:srcRect b="0" l="4338" r="4338" t="0"/>
          <a:stretch/>
        </p:blipFill>
        <p:spPr>
          <a:xfrm>
            <a:off x="4279738" y="2251713"/>
            <a:ext cx="584536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96" name="Google Shape;96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915187" y="132945"/>
            <a:ext cx="9111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TITLE</a:t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>
              <a:solidFill>
                <a:schemeClr val="lt1"/>
              </a:solidFill>
            </a:endParaRPr>
          </a:p>
        </p:txBody>
      </p:sp>
      <p:sp>
        <p:nvSpPr>
          <p:cNvPr id="7" name="Google Shape;7;p1"/>
          <p:cNvSpPr txBox="1"/>
          <p:nvPr/>
        </p:nvSpPr>
        <p:spPr>
          <a:xfrm>
            <a:off x="4571988" y="132945"/>
            <a:ext cx="7128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VAC </a:t>
            </a:r>
            <a:r>
              <a:rPr lang="en" sz="400">
                <a:solidFill>
                  <a:schemeClr val="lt1"/>
                </a:solidFill>
              </a:rPr>
              <a:t>CATEGORY</a:t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endParaRPr sz="500">
              <a:solidFill>
                <a:schemeClr val="lt1"/>
              </a:solidFill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2740013" y="132945"/>
            <a:ext cx="6381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DATE 2022</a:t>
            </a:r>
            <a:endParaRPr sz="4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"/>
              <a:buFont typeface="Arial"/>
              <a:buNone/>
            </a:pPr>
            <a:r>
              <a:rPr lang="en" sz="400">
                <a:solidFill>
                  <a:schemeClr val="lt1"/>
                </a:solidFill>
              </a:rPr>
              <a:t>_</a:t>
            </a:r>
            <a:endParaRPr sz="4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76">
          <p15:clr>
            <a:srgbClr val="EA4335"/>
          </p15:clr>
        </p15:guide>
        <p15:guide id="2" pos="5184">
          <p15:clr>
            <a:srgbClr val="EA4335"/>
          </p15:clr>
        </p15:guide>
        <p15:guide id="3" pos="4032">
          <p15:clr>
            <a:srgbClr val="EA4335"/>
          </p15:clr>
        </p15:guide>
        <p15:guide id="4" pos="4608">
          <p15:clr>
            <a:srgbClr val="EA4335"/>
          </p15:clr>
        </p15:guide>
        <p15:guide id="5" pos="3456">
          <p15:clr>
            <a:srgbClr val="EA4335"/>
          </p15:clr>
        </p15:guide>
        <p15:guide id="6" pos="2880">
          <p15:clr>
            <a:srgbClr val="EA4335"/>
          </p15:clr>
        </p15:guide>
        <p15:guide id="7" pos="2304">
          <p15:clr>
            <a:srgbClr val="EA4335"/>
          </p15:clr>
        </p15:guide>
        <p15:guide id="8" pos="1728">
          <p15:clr>
            <a:srgbClr val="EA4335"/>
          </p15:clr>
        </p15:guide>
        <p15:guide id="9" pos="1152">
          <p15:clr>
            <a:srgbClr val="EA4335"/>
          </p15:clr>
        </p15:guide>
        <p15:guide id="10" orient="horz" pos="45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lip.logos.co/anoncomms/raw/mix.html" TargetMode="External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hyperlink" Target="https://spec.torproject.org/guard-spec/index.html" TargetMode="External"/><Relationship Id="rId5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l.acm.org/doi/pdf/10.1145/3564625.3567996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ndss-symposium.org/wp-content/uploads/2026-f2384-paper.pdf" TargetMode="External"/><Relationship Id="rId4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hyperlink" Target="https://github.com/logos-storage/hs-mix-sim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spec.torproject.org/vanguards-spec/" TargetMode="External"/><Relationship Id="rId4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png"/><Relationship Id="rId4" Type="http://schemas.openxmlformats.org/officeDocument/2006/relationships/hyperlink" Target="https://github.com/logos-storage/hs-mix-si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ctrTitle"/>
          </p:nvPr>
        </p:nvSpPr>
        <p:spPr>
          <a:xfrm>
            <a:off x="311700" y="1480884"/>
            <a:ext cx="85206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80"/>
              <a:t>Path compromise and defenses for long-lived mixnet communication</a:t>
            </a:r>
            <a:endParaRPr sz="2980"/>
          </a:p>
        </p:txBody>
      </p:sp>
      <p:sp>
        <p:nvSpPr>
          <p:cNvPr id="111" name="Google Shape;111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Mohammed Alghazwi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Logos Storage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Institute of Free Technology (IFT)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320400" y="1017725"/>
            <a:ext cx="6747900" cy="31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Brief background/motivation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What is the path compromise problem?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Existing solutions/defences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Do they apply to the mix setting? 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How do we simulate it?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Can we do better?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Evaluation/results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Mix protocol</a:t>
            </a:r>
            <a:endParaRPr/>
          </a:p>
        </p:txBody>
      </p:sp>
      <p:sp>
        <p:nvSpPr>
          <p:cNvPr id="123" name="Google Shape;123;p28"/>
          <p:cNvSpPr txBox="1"/>
          <p:nvPr>
            <p:ph idx="1" type="body"/>
          </p:nvPr>
        </p:nvSpPr>
        <p:spPr>
          <a:xfrm>
            <a:off x="320400" y="849925"/>
            <a:ext cx="7452900" cy="25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</a:t>
            </a:r>
            <a:r>
              <a:rPr lang="en"/>
              <a:t>: a malicious observer cannot determine or correlate the input and output of the mix.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Unlinkability: cannot correlate input/output based on: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Message contents or size.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I/O order and timing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24" name="Google Shape;124;p28"/>
          <p:cNvSpPr txBox="1"/>
          <p:nvPr/>
        </p:nvSpPr>
        <p:spPr>
          <a:xfrm>
            <a:off x="311700" y="4553387"/>
            <a:ext cx="4886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Mix spec: </a:t>
            </a:r>
            <a:r>
              <a:rPr lang="en" sz="900" u="sng">
                <a:solidFill>
                  <a:schemeClr val="hlink"/>
                </a:solidFill>
                <a:hlinkClick r:id="rId3"/>
              </a:rPr>
              <a:t>https://lip.logos.co/anoncomms/raw/mix.html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25" name="Google Shape;125;p28" title="mix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1100" y="2487700"/>
            <a:ext cx="5422750" cy="198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Mix </a:t>
            </a:r>
            <a:r>
              <a:rPr lang="en">
                <a:solidFill>
                  <a:schemeClr val="dk1"/>
                </a:solidFill>
              </a:rPr>
              <a:t>protocol</a:t>
            </a:r>
            <a:endParaRPr/>
          </a:p>
        </p:txBody>
      </p:sp>
      <p:sp>
        <p:nvSpPr>
          <p:cNvPr id="131" name="Google Shape;131;p29"/>
          <p:cNvSpPr txBox="1"/>
          <p:nvPr>
            <p:ph idx="1" type="body"/>
          </p:nvPr>
        </p:nvSpPr>
        <p:spPr>
          <a:xfrm>
            <a:off x="311700" y="1152475"/>
            <a:ext cx="72831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Threat model: Global Passive Adversary (</a:t>
            </a:r>
            <a:r>
              <a:rPr lang="en">
                <a:solidFill>
                  <a:schemeClr val="dk1"/>
                </a:solidFill>
              </a:rPr>
              <a:t>GPA) observes traffic globally.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Multiple mixes with layered encryption.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Small packets taking random routes through the network.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9" title="Screenshot 2025-11-12 at 16.56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5913" y="2361576"/>
            <a:ext cx="4886699" cy="241520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9"/>
          <p:cNvSpPr txBox="1"/>
          <p:nvPr/>
        </p:nvSpPr>
        <p:spPr>
          <a:xfrm>
            <a:off x="3124400" y="4656125"/>
            <a:ext cx="5136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mix1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4" name="Google Shape;134;p29"/>
          <p:cNvSpPr txBox="1"/>
          <p:nvPr/>
        </p:nvSpPr>
        <p:spPr>
          <a:xfrm>
            <a:off x="4162463" y="4656125"/>
            <a:ext cx="5136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mix2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5" name="Google Shape;135;p29"/>
          <p:cNvSpPr txBox="1"/>
          <p:nvPr/>
        </p:nvSpPr>
        <p:spPr>
          <a:xfrm>
            <a:off x="5072013" y="4656125"/>
            <a:ext cx="5136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mix3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141" name="Google Shape;141;p30"/>
          <p:cNvSpPr txBox="1"/>
          <p:nvPr>
            <p:ph idx="1" type="body"/>
          </p:nvPr>
        </p:nvSpPr>
        <p:spPr>
          <a:xfrm>
            <a:off x="311700" y="1152475"/>
            <a:ext cx="539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Anonymous download/upload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0"/>
          <p:cNvSpPr txBox="1"/>
          <p:nvPr/>
        </p:nvSpPr>
        <p:spPr>
          <a:xfrm>
            <a:off x="320400" y="3055450"/>
            <a:ext cx="273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Hidden services</a:t>
            </a:r>
            <a:endParaRPr/>
          </a:p>
        </p:txBody>
      </p:sp>
      <p:pic>
        <p:nvPicPr>
          <p:cNvPr id="143" name="Google Shape;143;p30" title="usec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600" y="1350900"/>
            <a:ext cx="5784600" cy="2116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0" title="usecase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8025" y="2966743"/>
            <a:ext cx="5949774" cy="21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problem: path compromise</a:t>
            </a:r>
            <a:endParaRPr/>
          </a:p>
        </p:txBody>
      </p:sp>
      <p:sp>
        <p:nvSpPr>
          <p:cNvPr id="150" name="Google Shape;150;p31"/>
          <p:cNvSpPr txBox="1"/>
          <p:nvPr>
            <p:ph idx="1" type="body"/>
          </p:nvPr>
        </p:nvSpPr>
        <p:spPr>
          <a:xfrm>
            <a:off x="311700" y="1017725"/>
            <a:ext cx="5656200" cy="12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file transfer require many paths.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hidden service repeats this exposure across many clients.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Mix Adversary:</a:t>
            </a:r>
            <a:r>
              <a:rPr lang="en"/>
              <a:t> Adversary control a fraction β of the mix pool.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31" title="04-repeated-sampling.excalid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675" y="2327975"/>
            <a:ext cx="7135162" cy="261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De-anonymization risk</a:t>
            </a:r>
            <a:endParaRPr/>
          </a:p>
        </p:txBody>
      </p:sp>
      <p:sp>
        <p:nvSpPr>
          <p:cNvPr id="157" name="Google Shape;157;p32"/>
          <p:cNvSpPr txBox="1"/>
          <p:nvPr>
            <p:ph idx="1" type="body"/>
          </p:nvPr>
        </p:nvSpPr>
        <p:spPr>
          <a:xfrm>
            <a:off x="311700" y="1152475"/>
            <a:ext cx="31062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P-DLM: one fully malicious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 path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Let: β malicious %, L hops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2"/>
          <p:cNvSpPr txBox="1"/>
          <p:nvPr/>
        </p:nvSpPr>
        <p:spPr>
          <a:xfrm>
            <a:off x="915175" y="2050125"/>
            <a:ext cx="219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q ≈  βᴸ</a:t>
            </a:r>
            <a:endParaRPr b="1" sz="1600"/>
          </a:p>
        </p:txBody>
      </p:sp>
      <p:pic>
        <p:nvPicPr>
          <p:cNvPr id="159" name="Google Shape;15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7900" y="1354016"/>
            <a:ext cx="5727726" cy="307540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2"/>
          <p:cNvSpPr txBox="1"/>
          <p:nvPr>
            <p:ph idx="2" type="body"/>
          </p:nvPr>
        </p:nvSpPr>
        <p:spPr>
          <a:xfrm>
            <a:off x="320400" y="2241825"/>
            <a:ext cx="2962800" cy="18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S-DLM: at least one malicious path in N selections:</a:t>
            </a:r>
            <a:endParaRPr/>
          </a:p>
        </p:txBody>
      </p:sp>
      <p:sp>
        <p:nvSpPr>
          <p:cNvPr id="161" name="Google Shape;161;p32"/>
          <p:cNvSpPr txBox="1"/>
          <p:nvPr/>
        </p:nvSpPr>
        <p:spPr>
          <a:xfrm>
            <a:off x="369824" y="3438625"/>
            <a:ext cx="21963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S-DLM = 1 − (1 − q)ᴺ</a:t>
            </a:r>
            <a:endParaRPr b="1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3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solution: Tor guards*</a:t>
            </a:r>
            <a:endParaRPr/>
          </a:p>
        </p:txBody>
      </p:sp>
      <p:sp>
        <p:nvSpPr>
          <p:cNvPr id="167" name="Google Shape;167;p33"/>
          <p:cNvSpPr txBox="1"/>
          <p:nvPr>
            <p:ph idx="1" type="body"/>
          </p:nvPr>
        </p:nvSpPr>
        <p:spPr>
          <a:xfrm>
            <a:off x="320400" y="1017725"/>
            <a:ext cx="55629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small persistent entry set limits repeated exposure.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Algorithms for determining how and which guards are chosen.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Tor clients should resist attacks that try to force them onto compromised guards.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Load balancing.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  <p:pic>
        <p:nvPicPr>
          <p:cNvPr id="168" name="Google Shape;168;p33" title="06-tor-guards.excalid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8600" y="2329550"/>
            <a:ext cx="6499582" cy="24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3"/>
          <p:cNvSpPr txBox="1"/>
          <p:nvPr/>
        </p:nvSpPr>
        <p:spPr>
          <a:xfrm>
            <a:off x="311700" y="4553387"/>
            <a:ext cx="4886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*Tor guard spec: </a:t>
            </a:r>
            <a:r>
              <a:rPr lang="en" sz="900" u="sng">
                <a:solidFill>
                  <a:schemeClr val="hlink"/>
                </a:solidFill>
                <a:hlinkClick r:id="rId4"/>
              </a:rPr>
              <a:t>https://spec.torproject.org/guard-spec/index.html</a:t>
            </a:r>
            <a:r>
              <a:rPr lang="en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70" name="Google Shape;170;p33" title="Screenshot 2026-10-06 at 09.02.3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6475" y="762988"/>
            <a:ext cx="2281800" cy="217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3"/>
          <p:cNvSpPr txBox="1"/>
          <p:nvPr/>
        </p:nvSpPr>
        <p:spPr>
          <a:xfrm>
            <a:off x="4207050" y="3939975"/>
            <a:ext cx="4490400" cy="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Guards from relays marked with the </a:t>
            </a:r>
            <a:r>
              <a:rPr i="1" lang="en"/>
              <a:t>Guard</a:t>
            </a:r>
            <a:r>
              <a:rPr lang="en"/>
              <a:t> flag in Tor’s network consensus.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 bandwidth-weighted random selection.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Prefer primary guard.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solution: Bow-Tie*</a:t>
            </a:r>
            <a:endParaRPr/>
          </a:p>
        </p:txBody>
      </p:sp>
      <p:sp>
        <p:nvSpPr>
          <p:cNvPr id="177" name="Google Shape;177;p34"/>
          <p:cNvSpPr txBox="1"/>
          <p:nvPr>
            <p:ph idx="1" type="body"/>
          </p:nvPr>
        </p:nvSpPr>
        <p:spPr>
          <a:xfrm>
            <a:off x="320400" y="1017725"/>
            <a:ext cx="43230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Adapting guards to stratified mixnets</a:t>
            </a:r>
            <a:r>
              <a:rPr lang="en"/>
              <a:t>: guard layer with client logic that reuses guards and limits exposure to new ones.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Accounting for churn: </a:t>
            </a:r>
            <a:r>
              <a:rPr lang="en"/>
              <a:t>maintaining stable guards to reduce replacement-driven exposure.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Stratified network topology: balancing bandwidth across layers.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Evaluating risk over time:</a:t>
            </a:r>
            <a:r>
              <a:rPr lang="en"/>
              <a:t> studying cumulative deanonymization and time to first compromise using their </a:t>
            </a:r>
            <a:r>
              <a:rPr b="1" lang="en"/>
              <a:t>routesim</a:t>
            </a:r>
            <a:r>
              <a:rPr lang="en"/>
              <a:t> simulator.</a:t>
            </a:r>
            <a:endParaRPr/>
          </a:p>
        </p:txBody>
      </p:sp>
      <p:sp>
        <p:nvSpPr>
          <p:cNvPr id="178" name="Google Shape;178;p34"/>
          <p:cNvSpPr txBox="1"/>
          <p:nvPr/>
        </p:nvSpPr>
        <p:spPr>
          <a:xfrm>
            <a:off x="311700" y="4553387"/>
            <a:ext cx="4886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*Stopping Silent Sneaks: Defending against Malicious Mixes with Topological Engineering: </a:t>
            </a:r>
            <a:r>
              <a:rPr lang="en" sz="900" u="sng">
                <a:solidFill>
                  <a:schemeClr val="hlink"/>
                </a:solidFill>
                <a:hlinkClick r:id="rId3"/>
              </a:rPr>
              <a:t>https://dl.acm.org/doi/pdf/10.1145/3564625.3567996</a:t>
            </a:r>
            <a:r>
              <a:rPr lang="en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79" name="Google Shape;179;p34" title="07-bowtie.excalidra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400" y="3000852"/>
            <a:ext cx="4729801" cy="173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4" title="Screenshot 2026-10-06 at 09.03.2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2900" y="181182"/>
            <a:ext cx="2570775" cy="2592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solution: When Mixnets Fail, NDSS 2026*</a:t>
            </a:r>
            <a:endParaRPr/>
          </a:p>
        </p:txBody>
      </p:sp>
      <p:sp>
        <p:nvSpPr>
          <p:cNvPr id="186" name="Google Shape;186;p35"/>
          <p:cNvSpPr txBox="1"/>
          <p:nvPr>
            <p:ph idx="1" type="body"/>
          </p:nvPr>
        </p:nvSpPr>
        <p:spPr>
          <a:xfrm>
            <a:off x="320400" y="1017725"/>
            <a:ext cx="4610100" cy="3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Considers </a:t>
            </a:r>
            <a:r>
              <a:rPr b="1" lang="en"/>
              <a:t>sessions</a:t>
            </a:r>
            <a:r>
              <a:rPr lang="en"/>
              <a:t>: a set of related packets belonging to one client-destination communication.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Demonstrate that exchanging </a:t>
            </a:r>
            <a:r>
              <a:rPr b="1" lang="en"/>
              <a:t>4MB results in full de-anonymization</a:t>
            </a:r>
            <a:r>
              <a:rPr lang="en"/>
              <a:t> of the client. (</a:t>
            </a:r>
            <a:r>
              <a:rPr lang="en">
                <a:solidFill>
                  <a:schemeClr val="dk1"/>
                </a:solidFill>
              </a:rPr>
              <a:t>β =10%</a:t>
            </a:r>
            <a:r>
              <a:rPr lang="en"/>
              <a:t>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Propose </a:t>
            </a:r>
            <a:r>
              <a:rPr b="1" lang="en"/>
              <a:t>path selection strategies</a:t>
            </a:r>
            <a:r>
              <a:rPr lang="en"/>
              <a:t> for sessions: K-HF, K/W, α-sticky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Introduce new </a:t>
            </a:r>
            <a:r>
              <a:rPr b="1" lang="en"/>
              <a:t>evaluation metrics</a:t>
            </a:r>
            <a:r>
              <a:rPr lang="en"/>
              <a:t> to measure the probability of de-anonymization (</a:t>
            </a:r>
            <a:r>
              <a:rPr i="1" lang="en"/>
              <a:t>DLM</a:t>
            </a:r>
            <a:r>
              <a:rPr lang="en"/>
              <a:t>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Provide </a:t>
            </a:r>
            <a:r>
              <a:rPr b="1" lang="en"/>
              <a:t>simulator</a:t>
            </a:r>
            <a:r>
              <a:rPr lang="en"/>
              <a:t> to confirm evaluation results.</a:t>
            </a:r>
            <a:endParaRPr/>
          </a:p>
        </p:txBody>
      </p:sp>
      <p:sp>
        <p:nvSpPr>
          <p:cNvPr id="187" name="Google Shape;187;p35"/>
          <p:cNvSpPr txBox="1"/>
          <p:nvPr/>
        </p:nvSpPr>
        <p:spPr>
          <a:xfrm>
            <a:off x="311700" y="4553387"/>
            <a:ext cx="4886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*When Mixnets Fail: Evaluating, Quantifying, and Mitigating the Impact of Adversarial Nodes in Mix Networks: </a:t>
            </a:r>
            <a:r>
              <a:rPr lang="en" sz="900" u="sng">
                <a:solidFill>
                  <a:schemeClr val="hlink"/>
                </a:solidFill>
                <a:hlinkClick r:id="rId3"/>
              </a:rPr>
              <a:t>https://www.ndss-symposium.org/wp-content/uploads/2026-f2384-paper.pdf</a:t>
            </a:r>
            <a:r>
              <a:rPr lang="en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88" name="Google Shape;188;p35" title="Screenshot 2026-10-04 at 09.27.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7600" y="1118200"/>
            <a:ext cx="2854499" cy="290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strategy: K-Hops Fixed (</a:t>
            </a:r>
            <a:r>
              <a:rPr b="1" lang="en"/>
              <a:t>K-HF)</a:t>
            </a:r>
            <a:endParaRPr b="1"/>
          </a:p>
        </p:txBody>
      </p:sp>
      <p:sp>
        <p:nvSpPr>
          <p:cNvPr id="194" name="Google Shape;194;p36"/>
          <p:cNvSpPr txBox="1"/>
          <p:nvPr>
            <p:ph idx="1" type="body"/>
          </p:nvPr>
        </p:nvSpPr>
        <p:spPr>
          <a:xfrm>
            <a:off x="207300" y="1017725"/>
            <a:ext cx="4733400" cy="13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Fix h hop positions for the session.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Any honest fixed node blocks full-path compromise.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6" title="08-khf.excalid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275" y="2258200"/>
            <a:ext cx="6712762" cy="246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6" title="Screenshot 2026-10-06 at 07.48.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0691" y="1409825"/>
            <a:ext cx="38157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strategy: </a:t>
            </a:r>
            <a:r>
              <a:rPr b="1" lang="en"/>
              <a:t>K/W</a:t>
            </a:r>
            <a:endParaRPr b="1"/>
          </a:p>
        </p:txBody>
      </p:sp>
      <p:sp>
        <p:nvSpPr>
          <p:cNvPr id="202" name="Google Shape;202;p37"/>
          <p:cNvSpPr txBox="1"/>
          <p:nvPr>
            <p:ph idx="1" type="body"/>
          </p:nvPr>
        </p:nvSpPr>
        <p:spPr>
          <a:xfrm>
            <a:off x="150750" y="1017725"/>
            <a:ext cx="4733400" cy="13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Persistent candidate pools offer more choices than one fixed node.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 controls exposure and path diversity.</a:t>
            </a:r>
            <a:endParaRPr/>
          </a:p>
        </p:txBody>
      </p:sp>
      <p:pic>
        <p:nvPicPr>
          <p:cNvPr id="203" name="Google Shape;203;p37" title="09-kw.excalid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3675" y="2231300"/>
            <a:ext cx="6735138" cy="246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7" title="Screenshot 2026-10-06 at 07.50.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1225" y="1308538"/>
            <a:ext cx="3702275" cy="6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strategy: α sticky selection (</a:t>
            </a:r>
            <a:r>
              <a:rPr b="1" lang="en"/>
              <a:t>α-sticky)</a:t>
            </a:r>
            <a:endParaRPr b="1"/>
          </a:p>
        </p:txBody>
      </p:sp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168075" y="1017725"/>
            <a:ext cx="4733400" cy="18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Sample one initial path and keep it in a set. For each later message, reuse a path from the set with probability α, or introduce a new path with probability 1−α.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Larger α slows fresh exposure. For α &lt; 1, new paths continue to enter the retained set.</a:t>
            </a:r>
            <a:endParaRPr/>
          </a:p>
        </p:txBody>
      </p:sp>
      <p:pic>
        <p:nvPicPr>
          <p:cNvPr id="211" name="Google Shape;211;p38" title="10-alpha-sticky.excalid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725" y="2733000"/>
            <a:ext cx="4587097" cy="201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8" title="Screenshot 2026-10-06 at 08.03.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3796" y="1714793"/>
            <a:ext cx="3881075" cy="525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the optimal session strategy</a:t>
            </a:r>
            <a:endParaRPr b="1"/>
          </a:p>
        </p:txBody>
      </p:sp>
      <p:sp>
        <p:nvSpPr>
          <p:cNvPr id="218" name="Google Shape;218;p39"/>
          <p:cNvSpPr txBox="1"/>
          <p:nvPr>
            <p:ph idx="1" type="body"/>
          </p:nvPr>
        </p:nvSpPr>
        <p:spPr>
          <a:xfrm>
            <a:off x="320400" y="1017725"/>
            <a:ext cx="47334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Simulate in freeroute mix setting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Repeat simulation for different configurations of the strategies.</a:t>
            </a:r>
            <a:endParaRPr/>
          </a:p>
        </p:txBody>
      </p:sp>
      <p:pic>
        <p:nvPicPr>
          <p:cNvPr id="219" name="Google Shape;219;p39" title="mixpathsim-experiments.excalid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9900" y="2276125"/>
            <a:ext cx="6104682" cy="239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Simulator: </a:t>
            </a:r>
            <a:r>
              <a:rPr b="1" lang="en"/>
              <a:t>mixpathsim*</a:t>
            </a:r>
            <a:endParaRPr b="1"/>
          </a:p>
        </p:txBody>
      </p:sp>
      <p:sp>
        <p:nvSpPr>
          <p:cNvPr id="225" name="Google Shape;225;p40"/>
          <p:cNvSpPr txBox="1"/>
          <p:nvPr>
            <p:ph idx="1" type="body"/>
          </p:nvPr>
        </p:nvSpPr>
        <p:spPr>
          <a:xfrm>
            <a:off x="320400" y="1017725"/>
            <a:ext cx="37674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Monte Carlo trials estimate compromise likelihood across users with independent selection state.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40" title="05-simulator.excalid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6775" y="2197200"/>
            <a:ext cx="6564578" cy="24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0"/>
          <p:cNvSpPr txBox="1"/>
          <p:nvPr/>
        </p:nvSpPr>
        <p:spPr>
          <a:xfrm>
            <a:off x="311700" y="4553387"/>
            <a:ext cx="4886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*mixpathsim: </a:t>
            </a:r>
            <a:r>
              <a:rPr lang="en" sz="900" u="sng">
                <a:solidFill>
                  <a:schemeClr val="hlink"/>
                </a:solidFill>
                <a:hlinkClick r:id="rId4"/>
              </a:rPr>
              <a:t>https://github.com/logos-storage/hs-mix-sim</a:t>
            </a:r>
            <a:r>
              <a:rPr lang="en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hybrid strategy: </a:t>
            </a:r>
            <a:r>
              <a:rPr i="1" lang="en"/>
              <a:t>K </a:t>
            </a:r>
            <a:r>
              <a:rPr lang="en"/>
              <a:t>candidates at </a:t>
            </a:r>
            <a:r>
              <a:rPr i="1" lang="en"/>
              <a:t>h</a:t>
            </a:r>
            <a:r>
              <a:rPr lang="en"/>
              <a:t> fixed hops</a:t>
            </a:r>
            <a:endParaRPr/>
          </a:p>
        </p:txBody>
      </p:sp>
      <p:sp>
        <p:nvSpPr>
          <p:cNvPr id="233" name="Google Shape;233;p41"/>
          <p:cNvSpPr txBox="1"/>
          <p:nvPr>
            <p:ph idx="1" type="body"/>
          </p:nvPr>
        </p:nvSpPr>
        <p:spPr>
          <a:xfrm>
            <a:off x="320400" y="1017725"/>
            <a:ext cx="4733400" cy="19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 K-HF and K/W: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 hops, h persistent positions with K candidates each and L−h random positions.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is a configurable trade-off: smaller K </a:t>
            </a:r>
            <a:r>
              <a:rPr lang="en">
                <a:solidFill>
                  <a:schemeClr val="dk1"/>
                </a:solidFill>
              </a:rPr>
              <a:t>reduce exposure but provide less path diversity.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Tune L, h and K for the application.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41" title="11-hybrid.excalid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8575" y="2840675"/>
            <a:ext cx="5216498" cy="19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2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hybrid strategy: session profiles</a:t>
            </a:r>
            <a:endParaRPr/>
          </a:p>
        </p:txBody>
      </p:sp>
      <p:sp>
        <p:nvSpPr>
          <p:cNvPr id="240" name="Google Shape;240;p42"/>
          <p:cNvSpPr txBox="1"/>
          <p:nvPr>
            <p:ph idx="1" type="body"/>
          </p:nvPr>
        </p:nvSpPr>
        <p:spPr>
          <a:xfrm>
            <a:off x="320400" y="1017725"/>
            <a:ext cx="4733400" cy="19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Select a small pool of candidates for each fixed position at the start of a session.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each packet, choose one node from each retained pool; choose R freshly from the general mix pool.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Retain these pools throughout the session, then select new pools for the next session.</a:t>
            </a:r>
            <a:endParaRPr/>
          </a:p>
        </p:txBody>
      </p:sp>
      <p:pic>
        <p:nvPicPr>
          <p:cNvPr id="241" name="Google Shape;241;p42" title="profi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325" y="2930225"/>
            <a:ext cx="6417992" cy="19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hybrid strategy: session experiments.</a:t>
            </a:r>
            <a:endParaRPr/>
          </a:p>
        </p:txBody>
      </p:sp>
      <p:sp>
        <p:nvSpPr>
          <p:cNvPr id="247" name="Google Shape;247;p43"/>
          <p:cNvSpPr txBox="1"/>
          <p:nvPr>
            <p:ph idx="1" type="body"/>
          </p:nvPr>
        </p:nvSpPr>
        <p:spPr>
          <a:xfrm>
            <a:off x="320400" y="1017725"/>
            <a:ext cx="4733400" cy="120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measure path-compromise likelihood for different configurations depending on the required anonymity level and path diversity.</a:t>
            </a:r>
            <a:endParaRPr/>
          </a:p>
        </p:txBody>
      </p:sp>
      <p:pic>
        <p:nvPicPr>
          <p:cNvPr id="248" name="Google Shape;24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876" y="2283550"/>
            <a:ext cx="6697825" cy="25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idx="1" type="body"/>
          </p:nvPr>
        </p:nvSpPr>
        <p:spPr>
          <a:xfrm>
            <a:off x="2205300" y="1913650"/>
            <a:ext cx="4733400" cy="120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obster"/>
                <a:ea typeface="Lobster"/>
                <a:cs typeface="Lobster"/>
                <a:sym typeface="Lobster"/>
              </a:rPr>
              <a:t>Demo</a:t>
            </a:r>
            <a:endParaRPr sz="2600"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5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persistent pseudonym</a:t>
            </a:r>
            <a:endParaRPr/>
          </a:p>
        </p:txBody>
      </p:sp>
      <p:sp>
        <p:nvSpPr>
          <p:cNvPr id="259" name="Google Shape;259;p45"/>
          <p:cNvSpPr txBox="1"/>
          <p:nvPr>
            <p:ph idx="1" type="body"/>
          </p:nvPr>
        </p:nvSpPr>
        <p:spPr>
          <a:xfrm>
            <a:off x="320400" y="1017725"/>
            <a:ext cx="8326800" cy="1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Persistent pseudonyms outlive sessions, example use-cases: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Public provider: persistent client ID. i.e., </a:t>
            </a:r>
            <a:r>
              <a:rPr b="1" lang="en"/>
              <a:t>anonymous</a:t>
            </a:r>
            <a:r>
              <a:rPr lang="en"/>
              <a:t> clients of </a:t>
            </a:r>
            <a:r>
              <a:rPr b="1" lang="en"/>
              <a:t>public</a:t>
            </a:r>
            <a:r>
              <a:rPr lang="en"/>
              <a:t> services/storage providers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Hidden service: stable service ID (descriptor) shared across many clients. i.e., </a:t>
            </a:r>
            <a:r>
              <a:rPr b="1" lang="en">
                <a:solidFill>
                  <a:schemeClr val="dk1"/>
                </a:solidFill>
              </a:rPr>
              <a:t>anonymous</a:t>
            </a:r>
            <a:r>
              <a:rPr lang="en">
                <a:solidFill>
                  <a:schemeClr val="dk1"/>
                </a:solidFill>
              </a:rPr>
              <a:t> clients of </a:t>
            </a:r>
            <a:r>
              <a:rPr b="1" lang="en">
                <a:solidFill>
                  <a:schemeClr val="dk1"/>
                </a:solidFill>
              </a:rPr>
              <a:t>anonymous</a:t>
            </a:r>
            <a:r>
              <a:rPr lang="en">
                <a:solidFill>
                  <a:schemeClr val="dk1"/>
                </a:solidFill>
              </a:rPr>
              <a:t> services.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60" name="Google Shape;260;p45" title="12-pseudonym.excalid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5663" y="2222225"/>
            <a:ext cx="4632674" cy="169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5" title="12-pseudonym-service.excalidra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5804" y="3574076"/>
            <a:ext cx="5022521" cy="169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6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session strategies protect a long-lived communication over mix?</a:t>
            </a:r>
            <a:endParaRPr/>
          </a:p>
        </p:txBody>
      </p:sp>
      <p:sp>
        <p:nvSpPr>
          <p:cNvPr id="267" name="Google Shape;267;p46"/>
          <p:cNvSpPr txBox="1"/>
          <p:nvPr>
            <p:ph idx="1" type="body"/>
          </p:nvPr>
        </p:nvSpPr>
        <p:spPr>
          <a:xfrm>
            <a:off x="320400" y="1017725"/>
            <a:ext cx="47334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Options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New session state.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Problem: increase the chance of choosing malicious fixed nodes over time. 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lang="en">
                <a:solidFill>
                  <a:schemeClr val="dk1"/>
                </a:solidFill>
              </a:rPr>
              <a:t>Reusing the same state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Problem: the same state gives the </a:t>
            </a:r>
            <a:r>
              <a:rPr i="1" lang="en">
                <a:solidFill>
                  <a:srgbClr val="980000"/>
                </a:solidFill>
              </a:rPr>
              <a:t>adaptive</a:t>
            </a:r>
            <a:r>
              <a:rPr lang="en">
                <a:solidFill>
                  <a:srgbClr val="980000"/>
                </a:solidFill>
              </a:rPr>
              <a:t> adversary persistent targets.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68" name="Google Shape;268;p46"/>
          <p:cNvSpPr txBox="1"/>
          <p:nvPr/>
        </p:nvSpPr>
        <p:spPr>
          <a:xfrm>
            <a:off x="320400" y="4339850"/>
            <a:ext cx="625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Adaptive adversary:</a:t>
            </a:r>
            <a:r>
              <a:rPr lang="en"/>
              <a:t> discovers and targets additional nodes over time.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47" title="path-walking.excalid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400" y="389250"/>
            <a:ext cx="7872376" cy="486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8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Time-based selection strategies</a:t>
            </a:r>
            <a:endParaRPr/>
          </a:p>
        </p:txBody>
      </p:sp>
      <p:sp>
        <p:nvSpPr>
          <p:cNvPr id="279" name="Google Shape;279;p48"/>
          <p:cNvSpPr txBox="1"/>
          <p:nvPr>
            <p:ph idx="1" type="body"/>
          </p:nvPr>
        </p:nvSpPr>
        <p:spPr>
          <a:xfrm>
            <a:off x="320400" y="1017725"/>
            <a:ext cx="5334000" cy="10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Starting point</a:t>
            </a:r>
            <a:r>
              <a:rPr lang="en"/>
              <a:t>: </a:t>
            </a:r>
            <a:r>
              <a:rPr b="1" lang="en"/>
              <a:t>Tor Vanguards</a:t>
            </a:r>
            <a:r>
              <a:rPr lang="en"/>
              <a:t> </a:t>
            </a:r>
            <a:endParaRPr/>
          </a:p>
        </p:txBody>
      </p:sp>
      <p:sp>
        <p:nvSpPr>
          <p:cNvPr id="280" name="Google Shape;280;p48"/>
          <p:cNvSpPr txBox="1"/>
          <p:nvPr/>
        </p:nvSpPr>
        <p:spPr>
          <a:xfrm>
            <a:off x="311700" y="4553387"/>
            <a:ext cx="4886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*Tor vanguard spec: </a:t>
            </a:r>
            <a:r>
              <a:rPr lang="en" sz="900" u="sng">
                <a:solidFill>
                  <a:schemeClr val="hlink"/>
                </a:solidFill>
                <a:hlinkClick r:id="rId3"/>
              </a:rPr>
              <a:t>https://spec.torproject.org/vanguards-spec/</a:t>
            </a:r>
            <a:r>
              <a:rPr lang="en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281" name="Google Shape;281;p48" title="14-vanguards.excalidra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3138" y="1810150"/>
            <a:ext cx="5420475" cy="221446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8"/>
          <p:cNvSpPr txBox="1"/>
          <p:nvPr/>
        </p:nvSpPr>
        <p:spPr>
          <a:xfrm>
            <a:off x="0" y="1872800"/>
            <a:ext cx="3657300" cy="25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Layers of guard nodes, each layer with its own lifetime sampled from a defined range.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Layers closer to service have higher lifetimes than ones further away.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“Incentivize” the attacker to sybil L3 and then compromise L2 and L1.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9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a Vanguard-inspired strategy work over mix?</a:t>
            </a:r>
            <a:endParaRPr/>
          </a:p>
        </p:txBody>
      </p:sp>
      <p:sp>
        <p:nvSpPr>
          <p:cNvPr id="288" name="Google Shape;288;p49"/>
          <p:cNvSpPr txBox="1"/>
          <p:nvPr>
            <p:ph idx="1" type="body"/>
          </p:nvPr>
        </p:nvSpPr>
        <p:spPr>
          <a:xfrm>
            <a:off x="320400" y="1017725"/>
            <a:ext cx="53340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 free-route mix has different path and traffic assumptions.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 comparison needs an event model and an adversary that can walk current routes.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400"/>
              <a:buChar char="●"/>
            </a:pPr>
            <a:r>
              <a:rPr lang="en">
                <a:solidFill>
                  <a:srgbClr val="980000"/>
                </a:solidFill>
              </a:rPr>
              <a:t>We need to extend our simulator to support time-based path selection and a given adversary model (the adaptive adversary).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0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event simulation</a:t>
            </a:r>
            <a:endParaRPr/>
          </a:p>
        </p:txBody>
      </p:sp>
      <p:sp>
        <p:nvSpPr>
          <p:cNvPr id="294" name="Google Shape;294;p50"/>
          <p:cNvSpPr txBox="1"/>
          <p:nvPr>
            <p:ph idx="1" type="body"/>
          </p:nvPr>
        </p:nvSpPr>
        <p:spPr>
          <a:xfrm>
            <a:off x="320400" y="1017725"/>
            <a:ext cx="5334000" cy="24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95" name="Google Shape;295;p50" title="discrete-event-simulator.excalid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650" y="937575"/>
            <a:ext cx="8796701" cy="408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1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Vanguard baseline under the mix model</a:t>
            </a:r>
            <a:endParaRPr/>
          </a:p>
        </p:txBody>
      </p:sp>
      <p:sp>
        <p:nvSpPr>
          <p:cNvPr id="301" name="Google Shape;301;p51"/>
          <p:cNvSpPr txBox="1"/>
          <p:nvPr>
            <p:ph idx="1" type="body"/>
          </p:nvPr>
        </p:nvSpPr>
        <p:spPr>
          <a:xfrm>
            <a:off x="320400" y="1017725"/>
            <a:ext cx="3053400" cy="37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Simulation config: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5,000 trials,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1,000 nodes,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β = 10%,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30 days.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02" name="Google Shape;30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525" y="1454263"/>
            <a:ext cx="5265925" cy="184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51"/>
          <p:cNvPicPr preferRelativeResize="0"/>
          <p:nvPr/>
        </p:nvPicPr>
        <p:blipFill rotWithShape="1">
          <a:blip r:embed="rId4">
            <a:alphaModFix/>
          </a:blip>
          <a:srcRect b="17844" l="0" r="0" t="0"/>
          <a:stretch/>
        </p:blipFill>
        <p:spPr>
          <a:xfrm>
            <a:off x="3814625" y="3561550"/>
            <a:ext cx="4342525" cy="118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2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do better?</a:t>
            </a:r>
            <a:endParaRPr/>
          </a:p>
        </p:txBody>
      </p:sp>
      <p:sp>
        <p:nvSpPr>
          <p:cNvPr id="309" name="Google Shape;309;p52"/>
          <p:cNvSpPr txBox="1"/>
          <p:nvPr>
            <p:ph idx="1" type="body"/>
          </p:nvPr>
        </p:nvSpPr>
        <p:spPr>
          <a:xfrm>
            <a:off x="320400" y="931925"/>
            <a:ext cx="69948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First step: Generalize the vanguard approach to support any configured params: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Local topology: a private layered graph with the user/service selection over the global free-route mix pool.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 topology describes candidate nodes at each hop (K), generalizes the mesh and allow any degree of connections (d) between layers, and independent node and path lifetimes (T).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Second step: Simulate/experiment …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10" name="Google Shape;310;p52" title="17-local-topology.excalid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225" y="3096925"/>
            <a:ext cx="5789825" cy="211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3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 1: Rethinking layer sizes for mixnets</a:t>
            </a:r>
            <a:endParaRPr/>
          </a:p>
        </p:txBody>
      </p:sp>
      <p:sp>
        <p:nvSpPr>
          <p:cNvPr id="316" name="Google Shape;316;p53"/>
          <p:cNvSpPr txBox="1"/>
          <p:nvPr>
            <p:ph idx="1" type="body"/>
          </p:nvPr>
        </p:nvSpPr>
        <p:spPr>
          <a:xfrm>
            <a:off x="320400" y="1017725"/>
            <a:ext cx="4823100" cy="39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Vanguards motivates protecting a small set of service-side guards against discovery.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 our mixnet compromise model, an honest node anywhere along the path prevents full-path compromise.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We therefore explore alternatives: equal-sized layers, different distributions of nodes, and independent rotation times.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Equal-sized layers: the same total of 12 nodes, distributed equally.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We evaluate these choices together against an adaptive adversary.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17" name="Google Shape;317;p53" title="layer-size-2-4-6-vs-4-4-4.excalid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1625" y="269175"/>
            <a:ext cx="2847125" cy="499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4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 2: Degree controls connectivity and exposure</a:t>
            </a:r>
            <a:endParaRPr/>
          </a:p>
        </p:txBody>
      </p:sp>
      <p:sp>
        <p:nvSpPr>
          <p:cNvPr id="323" name="Google Shape;323;p54"/>
          <p:cNvSpPr txBox="1"/>
          <p:nvPr>
            <p:ph idx="1" type="body"/>
          </p:nvPr>
        </p:nvSpPr>
        <p:spPr>
          <a:xfrm>
            <a:off x="320400" y="1017725"/>
            <a:ext cx="6994800" cy="20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Increasing degree creates more possible routes and more alternatives when a node becomes unavailable.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Lowering degree restricts which nodes can form a complete path.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Main point: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Malicious nodes in every layer are insufficient for compromise unless they have a connected route, therefore, a sparse topology can exclude malicious combinations that exists in a full mesh.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24" name="Google Shape;324;p54" title="18-degree.excalid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6508" y="2997125"/>
            <a:ext cx="5572716" cy="20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5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 3: Active paths limit exposure </a:t>
            </a:r>
            <a:endParaRPr/>
          </a:p>
        </p:txBody>
      </p:sp>
      <p:sp>
        <p:nvSpPr>
          <p:cNvPr id="330" name="Google Shape;330;p55"/>
          <p:cNvSpPr txBox="1"/>
          <p:nvPr>
            <p:ph idx="1" type="body"/>
          </p:nvPr>
        </p:nvSpPr>
        <p:spPr>
          <a:xfrm>
            <a:off x="320400" y="1017725"/>
            <a:ext cx="6994800" cy="17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 local topology defines the routes that are possible.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We select only M complete routes for active use.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Each message chooses from this active set; each route has its own lifetime.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Expiring routes change the combinations available to the adversary while retaining the underlying topology.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Main point:</a:t>
            </a:r>
            <a:r>
              <a:rPr lang="en">
                <a:solidFill>
                  <a:schemeClr val="dk1"/>
                </a:solidFill>
              </a:rPr>
              <a:t> We can maintain a larger candidate topology while exposing only a small set of complete routes at any moment.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31" name="Google Shape;331;p55" title="19-fpoft.excalid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0075" y="2984050"/>
            <a:ext cx="5583858" cy="20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6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 4: Rotating exit layer</a:t>
            </a:r>
            <a:endParaRPr/>
          </a:p>
        </p:txBody>
      </p:sp>
      <p:sp>
        <p:nvSpPr>
          <p:cNvPr id="337" name="Google Shape;337;p56"/>
          <p:cNvSpPr txBox="1"/>
          <p:nvPr>
            <p:ph idx="1" type="body"/>
          </p:nvPr>
        </p:nvSpPr>
        <p:spPr>
          <a:xfrm>
            <a:off x="436900" y="851275"/>
            <a:ext cx="8520600" cy="19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Add a client-facing layer whose nodes come from the general mix pool.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Rotate these nodes independently of the internal layers and active paths.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 node may leave the topology before a targeted compromise completes.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Main point: 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Exit short rotation limits the time available to compromise an exit, therefore, “incentivize” sybil and delay compromise of internal nodes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Rotating exit can delay useful access to internal compromised nodes.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38" name="Google Shape;338;p56" title="17-local-topology-r5.excalidra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862" y="2500075"/>
            <a:ext cx="7083224" cy="253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7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results: Time-based anonymity profiles</a:t>
            </a:r>
            <a:endParaRPr/>
          </a:p>
        </p:txBody>
      </p:sp>
      <p:pic>
        <p:nvPicPr>
          <p:cNvPr id="344" name="Google Shape;34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738" y="3165225"/>
            <a:ext cx="5588925" cy="195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7" title="time-based-profiles.excalidra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4450" y="937700"/>
            <a:ext cx="6795824" cy="222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8"/>
          <p:cNvSpPr txBox="1"/>
          <p:nvPr>
            <p:ph idx="1" type="body"/>
          </p:nvPr>
        </p:nvSpPr>
        <p:spPr>
          <a:xfrm>
            <a:off x="2205300" y="1913650"/>
            <a:ext cx="4733400" cy="120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Lobster"/>
                <a:ea typeface="Lobster"/>
                <a:cs typeface="Lobster"/>
                <a:sym typeface="Lobster"/>
              </a:rPr>
              <a:t>Demo</a:t>
            </a:r>
            <a:endParaRPr sz="2600"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9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356" name="Google Shape;356;p59"/>
          <p:cNvSpPr txBox="1"/>
          <p:nvPr>
            <p:ph idx="1" type="body"/>
          </p:nvPr>
        </p:nvSpPr>
        <p:spPr>
          <a:xfrm>
            <a:off x="320400" y="1017725"/>
            <a:ext cx="85206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SURBs and mix key rotation:</a:t>
            </a:r>
            <a:r>
              <a:rPr lang="en">
                <a:solidFill>
                  <a:schemeClr val="dk1"/>
                </a:solidFill>
              </a:rPr>
              <a:t> Rotating active paths does not invalidate old SURBs. The routing-key extend exposure beyond the modeled path lifetime.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Assumed adversary capabilities:</a:t>
            </a:r>
            <a:r>
              <a:rPr lang="en">
                <a:solidFill>
                  <a:schemeClr val="dk1"/>
                </a:solidFill>
              </a:rPr>
              <a:t> Results depend on adversary time to compromise, success probabilities and number of attacks.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Trusted-pool assumption:</a:t>
            </a:r>
            <a:r>
              <a:rPr lang="en">
                <a:solidFill>
                  <a:schemeClr val="dk1"/>
                </a:solidFill>
              </a:rPr>
              <a:t> Lower malicious percentage is assumed.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Path discovery</a:t>
            </a:r>
            <a:r>
              <a:rPr lang="en">
                <a:solidFill>
                  <a:schemeClr val="dk1"/>
                </a:solidFill>
              </a:rPr>
              <a:t>: The adversary is assumed to be able to launch unlimited traffic volume to the service.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Side channel attacks:</a:t>
            </a:r>
            <a:r>
              <a:rPr lang="en">
                <a:solidFill>
                  <a:schemeClr val="dk1"/>
                </a:solidFill>
              </a:rPr>
              <a:t> We measure full-path compromise, not all forms of deanonymization, such as traffic analysis or side channel attacks.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Churn and mix node failures:</a:t>
            </a:r>
            <a:r>
              <a:rPr lang="en">
                <a:solidFill>
                  <a:schemeClr val="dk1"/>
                </a:solidFill>
              </a:rPr>
              <a:t> we assume mostly stable nodes at least in the trusted-pool.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Evaluation period:</a:t>
            </a:r>
            <a:r>
              <a:rPr lang="en">
                <a:solidFill>
                  <a:schemeClr val="dk1"/>
                </a:solidFill>
              </a:rPr>
              <a:t> we consider 30 days which doesn’t establish safety over longer lifetimes.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0"/>
          <p:cNvSpPr txBox="1"/>
          <p:nvPr>
            <p:ph type="title"/>
          </p:nvPr>
        </p:nvSpPr>
        <p:spPr>
          <a:xfrm>
            <a:off x="32040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</a:t>
            </a:r>
            <a:endParaRPr/>
          </a:p>
        </p:txBody>
      </p:sp>
      <p:sp>
        <p:nvSpPr>
          <p:cNvPr id="362" name="Google Shape;362;p60"/>
          <p:cNvSpPr txBox="1"/>
          <p:nvPr>
            <p:ph idx="1" type="body"/>
          </p:nvPr>
        </p:nvSpPr>
        <p:spPr>
          <a:xfrm>
            <a:off x="320400" y="1017725"/>
            <a:ext cx="85206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Repeated random selection accumulates risk.</a:t>
            </a:r>
            <a:r>
              <a:rPr lang="en">
                <a:solidFill>
                  <a:schemeClr val="dk1"/>
                </a:solidFill>
              </a:rPr>
              <a:t> More packets create more opportunities to select a fully malicious path.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Session strategies limit exposure.</a:t>
            </a:r>
            <a:r>
              <a:rPr lang="en">
                <a:solidFill>
                  <a:schemeClr val="dk1"/>
                </a:solidFill>
              </a:rPr>
              <a:t> Fixed pools balance compromise risk and path diversity within a session.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Persistent identities need protection across time.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Time-based profiles combine topology, active-path limits and rotation. </a:t>
            </a:r>
            <a:r>
              <a:rPr lang="en">
                <a:solidFill>
                  <a:schemeClr val="dk1"/>
                </a:solidFill>
              </a:rPr>
              <a:t>Lowers the probability of de-anonymization, but limits the time a service is available. </a:t>
            </a:r>
            <a:r>
              <a:rPr b="1"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Protection depends on the configuration and threat model:</a:t>
            </a:r>
            <a:r>
              <a:rPr lang="en">
                <a:solidFill>
                  <a:schemeClr val="dk1"/>
                </a:solidFill>
              </a:rPr>
              <a:t> Pool quality, attacker capabilities, and availability requirements.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1"/>
          <p:cNvSpPr txBox="1"/>
          <p:nvPr>
            <p:ph type="title"/>
          </p:nvPr>
        </p:nvSpPr>
        <p:spPr>
          <a:xfrm>
            <a:off x="3218100" y="659450"/>
            <a:ext cx="2707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/>
              <a:t>Thank you!</a:t>
            </a:r>
            <a:endParaRPr sz="3920"/>
          </a:p>
        </p:txBody>
      </p:sp>
      <p:pic>
        <p:nvPicPr>
          <p:cNvPr id="368" name="Google Shape;36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6225" y="2822100"/>
            <a:ext cx="2086574" cy="2086574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61"/>
          <p:cNvSpPr txBox="1"/>
          <p:nvPr/>
        </p:nvSpPr>
        <p:spPr>
          <a:xfrm>
            <a:off x="6816775" y="4686075"/>
            <a:ext cx="23493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hlinkClick r:id="rId4"/>
              </a:rPr>
              <a:t>https://github.com/logos-storage/hs-mix-sim</a:t>
            </a:r>
            <a:r>
              <a:rPr lang="en" sz="800"/>
              <a:t> </a:t>
            </a:r>
            <a:endParaRPr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ogos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